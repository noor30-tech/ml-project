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sldIdLst>
    <p:sldId id="257" r:id="rId2"/>
    <p:sldId id="256" r:id="rId3"/>
    <p:sldId id="258" r:id="rId4"/>
    <p:sldId id="259" r:id="rId5"/>
    <p:sldId id="261" r:id="rId6"/>
    <p:sldId id="260" r:id="rId7"/>
    <p:sldId id="262" r:id="rId8"/>
    <p:sldId id="264" r:id="rId9"/>
    <p:sldId id="266" r:id="rId10"/>
    <p:sldId id="269" r:id="rId11"/>
    <p:sldId id="270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DE195-A911-D0F9-A3BA-9174E3D5AE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866D1-45E1-F6F1-9CA2-935706B8A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3970E-CC03-F076-B16C-CC9B56861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352B-2B6E-4517-8149-178EF19662F3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2FB28-126E-455B-F55D-B2DB854F2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98260-9786-5650-B312-AE7068C7D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745E-62F5-4D70-9559-879E279CB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681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5256-FE35-5F67-A574-05E7CFFB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95489-A3D7-B5CC-C40F-AD16FA361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5B0C0-6AE4-111A-70AA-EB8C7DD60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352B-2B6E-4517-8149-178EF19662F3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C1242-44DC-FA66-1B25-444007BF9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359F1-0B5D-ABE8-3C73-BA15D1BA4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745E-62F5-4D70-9559-879E279CB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6294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8BC7-7D2B-0968-E393-5EAB0AD40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459EB-717F-BCE0-964C-F12D7F51F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FDB43-421F-8196-F294-5CD0CAE2C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352B-2B6E-4517-8149-178EF19662F3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E2214-EC81-1C0C-2EF6-44D9E278F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7319-D787-E71E-D143-A6C908E64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745E-62F5-4D70-9559-879E279CB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96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33B80-4F72-089A-B08A-79D8C66D5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E02E6-23FA-8940-5FE8-90A6B1D81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DB530-8C04-49D8-0CEF-C11617520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F1700-A6FD-DAA3-6B5F-F7FBF98E8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352B-2B6E-4517-8149-178EF19662F3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6A214-1084-7C05-D448-F10F752C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2817A2-7512-A587-11C0-65472D02D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745E-62F5-4D70-9559-879E279CB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71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A838-56FA-4ADF-2CD9-40F647E4A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AC625-55D8-38FF-AD78-F161BBB16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3D88AF-FD75-D09A-3F99-FFABA445D8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F05D21-FAE8-065C-A354-40CA86EF6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135210-7C5F-343D-A7F8-37CD305991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E7CEF7-E92A-BB04-1E21-2D314074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352B-2B6E-4517-8149-178EF19662F3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2D49EA-0C0E-98F9-A77D-05D250308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EF2995-A6A1-4F4E-FFA1-161237FE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745E-62F5-4D70-9559-879E279CB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119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AA4B8-540D-BC5E-CE77-48E3DA340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98FB8-F2F2-AB99-4D40-154605483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352B-2B6E-4517-8149-178EF19662F3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E7C94-5E9F-4235-2957-EC1776F86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E6BEB-E88A-1A31-463A-ED38F1EB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745E-62F5-4D70-9559-879E279CB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078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658C4B-3D6A-8300-6671-2809C915D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352B-2B6E-4517-8149-178EF19662F3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03D7B8-F666-5466-C74D-32A9AE1B5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99087-5AB4-D62D-4D0E-3BF31792C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745E-62F5-4D70-9559-879E279CB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491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C3D8-0D16-988C-FF1D-436F3D1A2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48D81-FD3B-ED41-3575-6818594B0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142585-888A-5853-AC62-D8A838EA7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E10E1-BB92-4942-9691-E907715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352B-2B6E-4517-8149-178EF19662F3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EAFCAE-2842-8958-6B48-85B9C086A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6DF0E-260A-5D2C-CC00-CBEB501EA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745E-62F5-4D70-9559-879E279CB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351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1EB13-26B9-5DFB-C87E-AD78B8379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13D94E-4A82-A54D-BF9B-4FD836CBC3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0D684-96E2-1E39-6EE1-788EF146F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29C05-3975-4922-5E0D-7A530FEC5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352B-2B6E-4517-8149-178EF19662F3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18E1C-F261-F8DD-FA00-D9B4FA0CC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8246E-E5AC-F5AC-EA5C-A6A9E72F7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745E-62F5-4D70-9559-879E279CB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792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9D9C9-40D1-7CBE-1CD0-0A55C7849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7988E3-6D70-CBC4-ED33-A9F24F6D3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504E5-B179-A775-48F9-BBFA49814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352B-2B6E-4517-8149-178EF19662F3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0D029-5584-2FAE-F309-8251A3DB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64EB2-2FA2-D4F5-00F7-BFA1ED6D6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745E-62F5-4D70-9559-879E279CB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975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6B78BC-B9CC-2661-51E7-1999B881F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3FF7A-3B8B-36C4-BC47-E732D93B5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55AFB-3577-7C08-358D-7E6756B5F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352B-2B6E-4517-8149-178EF19662F3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D980B-F0B5-D9B8-F05F-6B572860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C12EE-FB3A-6AB9-93C4-E3129AD2B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745E-62F5-4D70-9559-879E279CB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725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A352B-2B6E-4517-8149-178EF19662F3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0745E-62F5-4D70-9559-879E279CB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00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377F62-6A19-8EC5-55BC-2978AC2EE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63869-5B8C-9350-C569-92B810C7A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212B5-2A67-ADF0-92A9-A342B44BFC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A352B-2B6E-4517-8149-178EF19662F3}" type="datetimeFigureOut">
              <a:rPr lang="en-IN" smtClean="0"/>
              <a:t>08-02-2025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519F0-0D21-D38C-875A-9A2E84169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4CAD0-7C48-21E3-3A30-B83CC2788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0745E-62F5-4D70-9559-879E279CB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331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AF0FA0A-749C-7A22-BD5A-5541ADBFD1D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14168"/>
            <a:ext cx="12191999" cy="5343832"/>
          </a:xfr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8EBFCE1-673A-1DD0-3FC6-0CC756465EBE}"/>
              </a:ext>
            </a:extLst>
          </p:cNvPr>
          <p:cNvSpPr txBox="1">
            <a:spLocks/>
          </p:cNvSpPr>
          <p:nvPr/>
        </p:nvSpPr>
        <p:spPr>
          <a:xfrm>
            <a:off x="334298" y="484707"/>
            <a:ext cx="11631560" cy="5476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“Predicting Coupon Acceptance On E-Commerce Platforms”</a:t>
            </a:r>
          </a:p>
        </p:txBody>
      </p:sp>
    </p:spTree>
    <p:extLst>
      <p:ext uri="{BB962C8B-B14F-4D97-AF65-F5344CB8AC3E}">
        <p14:creationId xmlns:p14="http://schemas.microsoft.com/office/powerpoint/2010/main" val="1742162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F47C45-DC71-595C-37E3-D668B8467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8546" y="1099106"/>
            <a:ext cx="5957479" cy="3286081"/>
          </a:xfrm>
        </p:spPr>
        <p:txBody>
          <a:bodyPr>
            <a:normAutofit/>
          </a:bodyPr>
          <a:lstStyle/>
          <a:p>
            <a:pPr algn="just"/>
            <a:r>
              <a:rPr lang="en-IN" sz="21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1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</a:t>
            </a:r>
            <a:r>
              <a:rPr lang="en-US" sz="2100" b="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leverage machine learning techniques to analyze driving scenarios and user attributes collected from an </a:t>
            </a:r>
            <a:r>
              <a:rPr lang="en-US" sz="210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website. </a:t>
            </a:r>
            <a:r>
              <a:rPr lang="en-US" sz="21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10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redicting whether users will accept coupons accurately during their journeys. The survey describes different driving scenarios including the user’s destination, Current time, Weather, Passenger, Coupon attributes, user Attributes, and Contextual </a:t>
            </a:r>
            <a:r>
              <a:rPr lang="en-US" sz="21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100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ttributes, Then asks the user whether he/she will accept the coupon or not.”</a:t>
            </a:r>
          </a:p>
          <a:p>
            <a:pPr algn="l"/>
            <a:endParaRPr lang="en-IN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1611F6-2EE6-AE5F-39FE-69185AF0A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8698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33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0E3E-2598-EAC4-6A13-BECC5C41B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9215"/>
            <a:ext cx="12192000" cy="727587"/>
          </a:xfrm>
        </p:spPr>
        <p:txBody>
          <a:bodyPr>
            <a:norm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B6A2A-3E85-D575-6608-C143783B91C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9284" y="1406014"/>
            <a:ext cx="6607903" cy="4385186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</a:t>
            </a: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12684 Rows and 24 Columns</a:t>
            </a: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Destination, Passenger, Weather, Coupon, Gender, Bar, Marital Status, Expiration Hours, Directions, Occupation, Coffee House, Carry Away, Restaurant Less Than 20, Restaurant 20 To 50, Temperature,  Age,  Income 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Coupon Acceptance or Not Acceptance by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He/She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30FF2D8-57A5-4387-DE9F-EB22A6E57935}"/>
              </a:ext>
            </a:extLst>
          </p:cNvPr>
          <p:cNvSpPr/>
          <p:nvPr/>
        </p:nvSpPr>
        <p:spPr>
          <a:xfrm>
            <a:off x="277758" y="2589399"/>
            <a:ext cx="560438" cy="4326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7CF7E3-A14A-F38D-DDF1-254257CA8DB6}"/>
              </a:ext>
            </a:extLst>
          </p:cNvPr>
          <p:cNvSpPr/>
          <p:nvPr/>
        </p:nvSpPr>
        <p:spPr>
          <a:xfrm>
            <a:off x="277758" y="4803061"/>
            <a:ext cx="560439" cy="4326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5037B68-4573-5F39-0D9F-8B2C4C5FF7A1}"/>
              </a:ext>
            </a:extLst>
          </p:cNvPr>
          <p:cNvSpPr/>
          <p:nvPr/>
        </p:nvSpPr>
        <p:spPr>
          <a:xfrm>
            <a:off x="277759" y="1406014"/>
            <a:ext cx="560439" cy="4326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5C4F0F-F396-5A50-8EFC-4EDA0FC84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7187" y="0"/>
            <a:ext cx="466481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32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6043-4EF9-01CB-D5AE-171AC7268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4147893" cy="729343"/>
          </a:xfrm>
        </p:spPr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479BB-2B06-BC6B-05CA-C4BE6CBFE9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968829"/>
            <a:ext cx="6408174" cy="5791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Handling Duplicates:</a:t>
            </a:r>
          </a:p>
          <a:p>
            <a:r>
              <a:rPr lang="en-US" sz="20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Dropping the duplicates values.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ea typeface="Kanit Light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Handling Missing Values:</a:t>
            </a:r>
          </a:p>
          <a:p>
            <a:r>
              <a:rPr lang="en-US" sz="2000" dirty="0" err="1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SimpleImputer</a:t>
            </a:r>
            <a:r>
              <a:rPr lang="en-US" sz="20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 for categorical variables with most frequent argument &amp; there is no missing values in numerical variable</a:t>
            </a:r>
            <a:r>
              <a:rPr lang="en-US" sz="2400" dirty="0">
                <a:latin typeface="Martel Sans" panose="00000500000000000000" pitchFamily="34" charset="0"/>
                <a:ea typeface="Martel Sans" panose="00000500000000000000" pitchFamily="34" charset="-122"/>
                <a:cs typeface="Martel Sans" panose="00000500000000000000" pitchFamily="34" charset="-120"/>
              </a:rPr>
              <a:t>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ea typeface="Kanit Light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Outliers Treatment:</a:t>
            </a:r>
          </a:p>
          <a:p>
            <a:r>
              <a:rPr lang="en-US" sz="20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Applied the Z-Score Method, IQR Method and Boxplot to check &amp; Handle Outliers.</a:t>
            </a:r>
          </a:p>
          <a:p>
            <a:pPr marL="0" indent="0">
              <a:buNone/>
            </a:pPr>
            <a:endParaRPr lang="en-US" sz="2100" dirty="0">
              <a:latin typeface="Times New Roman" panose="02020603050405020304" pitchFamily="18" charset="0"/>
              <a:ea typeface="Martel Sans" panose="00000500000000000000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Manipulation:</a:t>
            </a:r>
          </a:p>
          <a:p>
            <a:r>
              <a:rPr lang="en-US" sz="20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Binning some of the columns like Age, Income, etc.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ea typeface="Kanit Light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ea typeface="Kanit Light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Martel Sans" panose="00000500000000000000" pitchFamily="34" charset="0"/>
              <a:ea typeface="Martel Sans" panose="00000500000000000000" pitchFamily="34" charset="-122"/>
              <a:cs typeface="Martel Sans" panose="00000500000000000000" pitchFamily="34" charset="-120"/>
            </a:endParaRPr>
          </a:p>
          <a:p>
            <a:pPr marL="0" indent="0">
              <a:buNone/>
            </a:pPr>
            <a:endParaRPr lang="en-US" sz="2400" dirty="0">
              <a:latin typeface="Martel Sans" panose="00000500000000000000" pitchFamily="34" charset="0"/>
              <a:ea typeface="Martel Sans" panose="00000500000000000000" pitchFamily="34" charset="-122"/>
              <a:cs typeface="Martel Sans" panose="00000500000000000000" pitchFamily="34" charset="-120"/>
            </a:endParaRPr>
          </a:p>
          <a:p>
            <a:pPr marL="0" indent="0">
              <a:buNone/>
            </a:pPr>
            <a:endParaRPr lang="en-US" sz="2400" dirty="0">
              <a:solidFill>
                <a:srgbClr val="2C3249"/>
              </a:solidFill>
              <a:latin typeface="Martel Sans" panose="00000500000000000000" pitchFamily="34" charset="0"/>
              <a:ea typeface="Martel Sans" panose="00000500000000000000" pitchFamily="34" charset="-122"/>
            </a:endParaRPr>
          </a:p>
          <a:p>
            <a:pPr marL="0" indent="0">
              <a:buNone/>
            </a:pPr>
            <a:endParaRPr lang="en-US" sz="2400" dirty="0"/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6F6C53-B084-8E27-CFD9-99D170194456}"/>
              </a:ext>
            </a:extLst>
          </p:cNvPr>
          <p:cNvSpPr/>
          <p:nvPr/>
        </p:nvSpPr>
        <p:spPr>
          <a:xfrm>
            <a:off x="257219" y="968829"/>
            <a:ext cx="508820" cy="4326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269A96-9AA0-8039-FACF-81FCD5415187}"/>
              </a:ext>
            </a:extLst>
          </p:cNvPr>
          <p:cNvSpPr/>
          <p:nvPr/>
        </p:nvSpPr>
        <p:spPr>
          <a:xfrm>
            <a:off x="257219" y="4134115"/>
            <a:ext cx="508820" cy="4326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27A036-DE2D-6C87-6A6E-9DD85AAD5A3B}"/>
              </a:ext>
            </a:extLst>
          </p:cNvPr>
          <p:cNvSpPr/>
          <p:nvPr/>
        </p:nvSpPr>
        <p:spPr>
          <a:xfrm>
            <a:off x="257219" y="2291267"/>
            <a:ext cx="508820" cy="4326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pic>
        <p:nvPicPr>
          <p:cNvPr id="9" name="Picture 8" descr="A screenshot of a graph&#10;&#10;Description automatically generated">
            <a:extLst>
              <a:ext uri="{FF2B5EF4-FFF2-40B4-BE49-F238E27FC236}">
                <a16:creationId xmlns:a16="http://schemas.microsoft.com/office/drawing/2014/main" id="{7876B5AA-DF8D-6405-8748-A8FCC9221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45" y="719511"/>
            <a:ext cx="4147893" cy="2928258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4729D7A4-24D1-A457-F5B3-AA631C419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945" y="3657601"/>
            <a:ext cx="4147893" cy="2754085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699E569-7225-A914-6F02-5917708F46DB}"/>
              </a:ext>
            </a:extLst>
          </p:cNvPr>
          <p:cNvSpPr/>
          <p:nvPr/>
        </p:nvSpPr>
        <p:spPr>
          <a:xfrm>
            <a:off x="257219" y="5672861"/>
            <a:ext cx="508820" cy="4326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99086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204BD4DE-8FBE-5E5F-39F9-713E9AE0F7C0}"/>
              </a:ext>
            </a:extLst>
          </p:cNvPr>
          <p:cNvSpPr/>
          <p:nvPr/>
        </p:nvSpPr>
        <p:spPr>
          <a:xfrm>
            <a:off x="2330410" y="165441"/>
            <a:ext cx="7098725" cy="6997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6050"/>
              </a:lnSpc>
              <a:buNone/>
            </a:pPr>
            <a:r>
              <a:rPr lang="en-US" sz="48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Exploratory Data Analysis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F731DE9-91FF-B3A7-FA31-442F6F1284B8}"/>
              </a:ext>
            </a:extLst>
          </p:cNvPr>
          <p:cNvSpPr/>
          <p:nvPr/>
        </p:nvSpPr>
        <p:spPr>
          <a:xfrm>
            <a:off x="491656" y="3948785"/>
            <a:ext cx="3086100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Univariate Analysis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66B9E6B8-E61A-2BBD-425D-92AED5771BD7}"/>
              </a:ext>
            </a:extLst>
          </p:cNvPr>
          <p:cNvSpPr/>
          <p:nvPr/>
        </p:nvSpPr>
        <p:spPr>
          <a:xfrm>
            <a:off x="555404" y="4692282"/>
            <a:ext cx="3255619" cy="14963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ts val="3100"/>
              </a:lnSpc>
            </a:pPr>
            <a:r>
              <a:rPr lang="en-US" sz="19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Numerical columns</a:t>
            </a:r>
          </a:p>
          <a:p>
            <a:pPr algn="just">
              <a:lnSpc>
                <a:spcPts val="3100"/>
              </a:lnSpc>
            </a:pPr>
            <a:r>
              <a:rPr lang="en-US" sz="19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Categorical columns</a:t>
            </a:r>
          </a:p>
          <a:p>
            <a:pPr algn="just">
              <a:lnSpc>
                <a:spcPts val="3100"/>
              </a:lnSpc>
            </a:pPr>
            <a:r>
              <a:rPr lang="en-US" sz="19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Target Variables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1B56F24D-AA44-6C2D-8BEE-F97F34B86E50}"/>
              </a:ext>
            </a:extLst>
          </p:cNvPr>
          <p:cNvSpPr/>
          <p:nvPr/>
        </p:nvSpPr>
        <p:spPr>
          <a:xfrm>
            <a:off x="3896081" y="3930041"/>
            <a:ext cx="3086100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Bivariate Analysis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496E1685-6934-BE5E-7304-DD85BF28351F}"/>
              </a:ext>
            </a:extLst>
          </p:cNvPr>
          <p:cNvSpPr/>
          <p:nvPr/>
        </p:nvSpPr>
        <p:spPr>
          <a:xfrm>
            <a:off x="3889393" y="4684745"/>
            <a:ext cx="4266504" cy="13275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Customer demographics &amp;  Acceptance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Travel Behavior &amp; Coupon Accessibility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Coupon type &amp; Past Purchase Behavior</a:t>
            </a:r>
          </a:p>
          <a:p>
            <a:pPr marL="0" indent="0" algn="l">
              <a:lnSpc>
                <a:spcPts val="3100"/>
              </a:lnSpc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59BA4C4-E4FD-BFB5-81BE-279483F8E9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393" y="1621470"/>
            <a:ext cx="3086100" cy="180753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5CD9CEE-6231-91E2-D337-07835858D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652" y="1621470"/>
            <a:ext cx="2950819" cy="1807530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537D61D3-1CD8-B2AC-AFC8-56626107C4FB}"/>
              </a:ext>
            </a:extLst>
          </p:cNvPr>
          <p:cNvSpPr/>
          <p:nvPr/>
        </p:nvSpPr>
        <p:spPr>
          <a:xfrm>
            <a:off x="8396749" y="1621470"/>
            <a:ext cx="3086100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Multivariate Analysis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38231905-1D09-BB9E-C4F8-4F70F5B0335A}"/>
              </a:ext>
            </a:extLst>
          </p:cNvPr>
          <p:cNvSpPr/>
          <p:nvPr/>
        </p:nvSpPr>
        <p:spPr>
          <a:xfrm>
            <a:off x="8436078" y="2397218"/>
            <a:ext cx="3226121" cy="11851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1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</a:t>
            </a:r>
          </a:p>
          <a:p>
            <a:pPr algn="l">
              <a:lnSpc>
                <a:spcPts val="31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Behavior</a:t>
            </a:r>
          </a:p>
          <a:p>
            <a:pPr algn="l">
              <a:lnSpc>
                <a:spcPts val="31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Coupon Usage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5029CE-6280-B5CF-0ADB-1B169ABE7B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6749" y="3972351"/>
            <a:ext cx="3086100" cy="1890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279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>
            <a:extLst>
              <a:ext uri="{FF2B5EF4-FFF2-40B4-BE49-F238E27FC236}">
                <a16:creationId xmlns:a16="http://schemas.microsoft.com/office/drawing/2014/main" id="{13011C0C-DE33-1F78-A063-729539A59811}"/>
              </a:ext>
            </a:extLst>
          </p:cNvPr>
          <p:cNvSpPr/>
          <p:nvPr/>
        </p:nvSpPr>
        <p:spPr>
          <a:xfrm>
            <a:off x="647637" y="3598715"/>
            <a:ext cx="3086100" cy="4320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Correlation Matrix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5EBA09E8-EA06-F164-1D22-C390E0E12F8B}"/>
              </a:ext>
            </a:extLst>
          </p:cNvPr>
          <p:cNvSpPr/>
          <p:nvPr/>
        </p:nvSpPr>
        <p:spPr>
          <a:xfrm>
            <a:off x="647788" y="4354286"/>
            <a:ext cx="4490269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Displays the relationships between variables, guiding feature selection &amp; helps to identified importance features for prediction.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7319B8A0-AAF3-111C-BA85-C1912E09159F}"/>
              </a:ext>
            </a:extLst>
          </p:cNvPr>
          <p:cNvSpPr/>
          <p:nvPr/>
        </p:nvSpPr>
        <p:spPr>
          <a:xfrm>
            <a:off x="7050343" y="3598715"/>
            <a:ext cx="3086100" cy="4320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Pair Plot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7DFD17F-60E4-6AEA-D7FE-B40A56F23158}"/>
              </a:ext>
            </a:extLst>
          </p:cNvPr>
          <p:cNvSpPr/>
          <p:nvPr/>
        </p:nvSpPr>
        <p:spPr>
          <a:xfrm>
            <a:off x="7050343" y="4350725"/>
            <a:ext cx="4490268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1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Pairwise relationships between all the numerical features allowing us to understand the data before building a models.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33866B-A0F6-7891-2B96-9D0EB85C0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825" y="693938"/>
            <a:ext cx="4490269" cy="27350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C175FC-0FDD-7E6F-AADD-D27BD10E1C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6" y="580322"/>
            <a:ext cx="5713294" cy="296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35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07313D4-842A-9D75-8F4C-207EB107F186}"/>
              </a:ext>
            </a:extLst>
          </p:cNvPr>
          <p:cNvSpPr/>
          <p:nvPr/>
        </p:nvSpPr>
        <p:spPr>
          <a:xfrm>
            <a:off x="3145182" y="274190"/>
            <a:ext cx="6717276" cy="7715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6050"/>
              </a:lnSpc>
              <a:buNone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276221A-0F92-5BF2-B71E-660E2C0CE97F}"/>
              </a:ext>
            </a:extLst>
          </p:cNvPr>
          <p:cNvSpPr/>
          <p:nvPr/>
        </p:nvSpPr>
        <p:spPr>
          <a:xfrm>
            <a:off x="1365543" y="1618771"/>
            <a:ext cx="3086100" cy="365682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Feature Encoding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DD82C548-7C30-37D8-A955-72BC549F4330}"/>
              </a:ext>
            </a:extLst>
          </p:cNvPr>
          <p:cNvSpPr/>
          <p:nvPr/>
        </p:nvSpPr>
        <p:spPr>
          <a:xfrm>
            <a:off x="1365424" y="2069334"/>
            <a:ext cx="4053959" cy="8902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Features encoded using one hot encoding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&amp; ordinal encoding.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97D71D5-C8C3-A7E5-8EC0-91C5ACA4992C}"/>
              </a:ext>
            </a:extLst>
          </p:cNvPr>
          <p:cNvSpPr/>
          <p:nvPr/>
        </p:nvSpPr>
        <p:spPr>
          <a:xfrm>
            <a:off x="1365424" y="3263674"/>
            <a:ext cx="3086219" cy="4906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Data Imbalanced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5129187-F581-1480-2DB8-BC3DDEC6091C}"/>
              </a:ext>
            </a:extLst>
          </p:cNvPr>
          <p:cNvSpPr/>
          <p:nvPr/>
        </p:nvSpPr>
        <p:spPr>
          <a:xfrm>
            <a:off x="1365425" y="3754281"/>
            <a:ext cx="4053958" cy="89029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Balanced the data using SMOTE technique.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C853E17-E10C-F5DB-CCB2-F588626F1888}"/>
              </a:ext>
            </a:extLst>
          </p:cNvPr>
          <p:cNvSpPr/>
          <p:nvPr/>
        </p:nvSpPr>
        <p:spPr>
          <a:xfrm>
            <a:off x="1365425" y="4985657"/>
            <a:ext cx="3163032" cy="4906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Correlation Matrix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5D8C026-216B-C8BA-E75B-9DFFD202BB0B}"/>
              </a:ext>
            </a:extLst>
          </p:cNvPr>
          <p:cNvSpPr/>
          <p:nvPr/>
        </p:nvSpPr>
        <p:spPr>
          <a:xfrm>
            <a:off x="1365424" y="5439228"/>
            <a:ext cx="4053960" cy="8902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For understanding the linear relationships between the variables.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20C68D4-DF27-3F27-7309-2FE4F89865C9}"/>
              </a:ext>
            </a:extLst>
          </p:cNvPr>
          <p:cNvSpPr/>
          <p:nvPr/>
        </p:nvSpPr>
        <p:spPr>
          <a:xfrm>
            <a:off x="622593" y="1618771"/>
            <a:ext cx="550606" cy="450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AE8F818-2E75-5C7A-AE6C-63855B737D70}"/>
              </a:ext>
            </a:extLst>
          </p:cNvPr>
          <p:cNvSpPr/>
          <p:nvPr/>
        </p:nvSpPr>
        <p:spPr>
          <a:xfrm>
            <a:off x="6094238" y="1636664"/>
            <a:ext cx="550606" cy="4326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FB6AD3E-1D66-0464-E26A-B679239AF699}"/>
              </a:ext>
            </a:extLst>
          </p:cNvPr>
          <p:cNvSpPr/>
          <p:nvPr/>
        </p:nvSpPr>
        <p:spPr>
          <a:xfrm>
            <a:off x="622593" y="4908575"/>
            <a:ext cx="550606" cy="450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2E8835C-94AA-6FE5-2A32-CB8F03169E42}"/>
              </a:ext>
            </a:extLst>
          </p:cNvPr>
          <p:cNvSpPr/>
          <p:nvPr/>
        </p:nvSpPr>
        <p:spPr>
          <a:xfrm>
            <a:off x="622593" y="3263673"/>
            <a:ext cx="550606" cy="4505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53757CC-9176-BC34-DE42-95E6F70EB78B}"/>
              </a:ext>
            </a:extLst>
          </p:cNvPr>
          <p:cNvSpPr/>
          <p:nvPr/>
        </p:nvSpPr>
        <p:spPr>
          <a:xfrm>
            <a:off x="6892908" y="1636665"/>
            <a:ext cx="3086100" cy="432669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Multicollinearity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3CFF618B-E9AF-3FD7-6EE7-2582ABA2A7F8}"/>
              </a:ext>
            </a:extLst>
          </p:cNvPr>
          <p:cNvSpPr/>
          <p:nvPr/>
        </p:nvSpPr>
        <p:spPr>
          <a:xfrm>
            <a:off x="6892908" y="2069335"/>
            <a:ext cx="4053958" cy="8902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Multicollinearity using VIF &amp;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dropping highly correlated features.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DFBDE1A-B19F-5D62-9FE5-AC3DD03FCAD5}"/>
              </a:ext>
            </a:extLst>
          </p:cNvPr>
          <p:cNvSpPr/>
          <p:nvPr/>
        </p:nvSpPr>
        <p:spPr>
          <a:xfrm>
            <a:off x="6094238" y="3321611"/>
            <a:ext cx="550606" cy="4326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AD21F5-4174-6133-2FBA-9A8EF799A868}"/>
              </a:ext>
            </a:extLst>
          </p:cNvPr>
          <p:cNvSpPr txBox="1"/>
          <p:nvPr/>
        </p:nvSpPr>
        <p:spPr>
          <a:xfrm>
            <a:off x="6892908" y="3319290"/>
            <a:ext cx="3086100" cy="453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Feature Scaling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ACA7CF-0F1B-9F0A-62D4-39BC0136A4E7}"/>
              </a:ext>
            </a:extLst>
          </p:cNvPr>
          <p:cNvSpPr txBox="1"/>
          <p:nvPr/>
        </p:nvSpPr>
        <p:spPr>
          <a:xfrm>
            <a:off x="6892908" y="3772299"/>
            <a:ext cx="4053958" cy="848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 err="1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Standarized</a:t>
            </a:r>
            <a:r>
              <a:rPr lang="en-US" sz="19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 the data using Standard Scalar.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3AD266-922C-B850-52B6-CC1137DCE8A2}"/>
              </a:ext>
            </a:extLst>
          </p:cNvPr>
          <p:cNvSpPr/>
          <p:nvPr/>
        </p:nvSpPr>
        <p:spPr>
          <a:xfrm>
            <a:off x="6094238" y="4926468"/>
            <a:ext cx="550606" cy="4326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DD5603-603C-8D5F-DDB1-9F421EBEDE22}"/>
              </a:ext>
            </a:extLst>
          </p:cNvPr>
          <p:cNvSpPr txBox="1"/>
          <p:nvPr/>
        </p:nvSpPr>
        <p:spPr>
          <a:xfrm>
            <a:off x="6892908" y="4926468"/>
            <a:ext cx="3251600" cy="462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Feature Selection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BD373A-0DCF-256C-8964-7B947182ABF4}"/>
              </a:ext>
            </a:extLst>
          </p:cNvPr>
          <p:cNvSpPr txBox="1"/>
          <p:nvPr/>
        </p:nvSpPr>
        <p:spPr>
          <a:xfrm>
            <a:off x="6892908" y="5476264"/>
            <a:ext cx="4053958" cy="842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RFE &amp; Mutual Info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Classif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selecting redundant features.</a:t>
            </a:r>
          </a:p>
        </p:txBody>
      </p:sp>
    </p:spTree>
    <p:extLst>
      <p:ext uri="{BB962C8B-B14F-4D97-AF65-F5344CB8AC3E}">
        <p14:creationId xmlns:p14="http://schemas.microsoft.com/office/powerpoint/2010/main" val="4063754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2DA6C0EE-A25C-3F7E-155A-8BB41FDA3B65}"/>
              </a:ext>
            </a:extLst>
          </p:cNvPr>
          <p:cNvSpPr/>
          <p:nvPr/>
        </p:nvSpPr>
        <p:spPr>
          <a:xfrm>
            <a:off x="4201342" y="311656"/>
            <a:ext cx="4060915" cy="7715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6050"/>
              </a:lnSpc>
              <a:buNone/>
            </a:pPr>
            <a:r>
              <a:rPr lang="en-US" sz="4800" dirty="0">
                <a:solidFill>
                  <a:srgbClr val="272D45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Model Selection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AB25C898-1788-22B8-1B81-DC266E4D219A}"/>
              </a:ext>
            </a:extLst>
          </p:cNvPr>
          <p:cNvSpPr/>
          <p:nvPr/>
        </p:nvSpPr>
        <p:spPr>
          <a:xfrm>
            <a:off x="359771" y="1440263"/>
            <a:ext cx="3653535" cy="2243138"/>
          </a:xfrm>
          <a:prstGeom prst="roundRect">
            <a:avLst>
              <a:gd name="adj" fmla="val 4623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Classifier Models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classification models for baseline performance.</a:t>
            </a: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08249F51-FB76-B5CC-012E-D330A5B64114}"/>
              </a:ext>
            </a:extLst>
          </p:cNvPr>
          <p:cNvSpPr/>
          <p:nvPr/>
        </p:nvSpPr>
        <p:spPr>
          <a:xfrm>
            <a:off x="4269230" y="3976634"/>
            <a:ext cx="3653535" cy="2243138"/>
          </a:xfrm>
          <a:prstGeom prst="roundRect">
            <a:avLst>
              <a:gd name="adj" fmla="val 4623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Tree-Based Models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Trees, Random Forest, Gradient Boosting, AdaBoost to enhanced the classification accuracy. </a:t>
            </a:r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20077B69-0B0C-53E5-F5B0-483B434A6D5C}"/>
              </a:ext>
            </a:extLst>
          </p:cNvPr>
          <p:cNvSpPr/>
          <p:nvPr/>
        </p:nvSpPr>
        <p:spPr>
          <a:xfrm>
            <a:off x="8178694" y="1440263"/>
            <a:ext cx="3653535" cy="2243138"/>
          </a:xfrm>
          <a:prstGeom prst="roundRect">
            <a:avLst>
              <a:gd name="adj" fmla="val 4623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Models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Classifier,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more complex classification &amp; for best accuracy.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75502E1-C88D-5B17-034A-D3730FE06EE0}"/>
              </a:ext>
            </a:extLst>
          </p:cNvPr>
          <p:cNvCxnSpPr>
            <a:stCxn id="16" idx="2"/>
            <a:endCxn id="19" idx="1"/>
          </p:cNvCxnSpPr>
          <p:nvPr/>
        </p:nvCxnSpPr>
        <p:spPr>
          <a:xfrm rot="16200000" flipH="1">
            <a:off x="2520483" y="3349456"/>
            <a:ext cx="1414802" cy="2082691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F9FFC2D-82E9-11B7-F010-F95DCEF5C5D2}"/>
              </a:ext>
            </a:extLst>
          </p:cNvPr>
          <p:cNvCxnSpPr>
            <a:stCxn id="19" idx="3"/>
            <a:endCxn id="20" idx="2"/>
          </p:cNvCxnSpPr>
          <p:nvPr/>
        </p:nvCxnSpPr>
        <p:spPr>
          <a:xfrm flipV="1">
            <a:off x="7922765" y="3683401"/>
            <a:ext cx="2082697" cy="1414802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865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E5ED314-54BD-3C92-5F39-2FFC2C0EFDBB}"/>
              </a:ext>
            </a:extLst>
          </p:cNvPr>
          <p:cNvSpPr/>
          <p:nvPr/>
        </p:nvSpPr>
        <p:spPr>
          <a:xfrm>
            <a:off x="2037204" y="423148"/>
            <a:ext cx="7651340" cy="7715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6050"/>
              </a:lnSpc>
              <a:buNone/>
            </a:pPr>
            <a:r>
              <a:rPr lang="en-US" sz="4800" dirty="0">
                <a:solidFill>
                  <a:srgbClr val="272D45"/>
                </a:solidFill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Model Training and Evaluation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6E44949C-054C-C2CA-FD1D-2C051D3276E9}"/>
              </a:ext>
            </a:extLst>
          </p:cNvPr>
          <p:cNvSpPr/>
          <p:nvPr/>
        </p:nvSpPr>
        <p:spPr>
          <a:xfrm>
            <a:off x="618199" y="1697583"/>
            <a:ext cx="555427" cy="539598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US" dirty="0"/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72AAA99-A671-7655-0AA0-AF56B96586B0}"/>
              </a:ext>
            </a:extLst>
          </p:cNvPr>
          <p:cNvSpPr/>
          <p:nvPr/>
        </p:nvSpPr>
        <p:spPr>
          <a:xfrm>
            <a:off x="1345044" y="1753580"/>
            <a:ext cx="1803706" cy="4276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Data Splitting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E057CF7-EE3C-7578-A605-7C1B4F7DAFFE}"/>
              </a:ext>
            </a:extLst>
          </p:cNvPr>
          <p:cNvSpPr/>
          <p:nvPr/>
        </p:nvSpPr>
        <p:spPr>
          <a:xfrm>
            <a:off x="3773031" y="3814703"/>
            <a:ext cx="187404" cy="3702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00"/>
              </a:lnSpc>
              <a:buNone/>
            </a:pPr>
            <a:endParaRPr lang="en-US" sz="24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77FC530-77BE-6A08-3721-20FD13A3EE86}"/>
              </a:ext>
            </a:extLst>
          </p:cNvPr>
          <p:cNvSpPr/>
          <p:nvPr/>
        </p:nvSpPr>
        <p:spPr>
          <a:xfrm>
            <a:off x="1229443" y="3801521"/>
            <a:ext cx="3227189" cy="427604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Hyperparameter Tuning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875A109F-2070-4BD0-4DD5-E89D4341BC7B}"/>
              </a:ext>
            </a:extLst>
          </p:cNvPr>
          <p:cNvSpPr/>
          <p:nvPr/>
        </p:nvSpPr>
        <p:spPr>
          <a:xfrm>
            <a:off x="1345044" y="4341821"/>
            <a:ext cx="3486197" cy="1688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Used </a:t>
            </a:r>
            <a:r>
              <a:rPr lang="en-US" sz="1900" dirty="0" err="1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GridSearch</a:t>
            </a:r>
            <a:r>
              <a:rPr lang="en-US" sz="19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 CV &amp; Randomized Search CV for fine-tuning &amp; to optimized models parameters.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3B8E89E8-85EA-D5CF-FE2C-C6079556FC6F}"/>
              </a:ext>
            </a:extLst>
          </p:cNvPr>
          <p:cNvSpPr/>
          <p:nvPr/>
        </p:nvSpPr>
        <p:spPr>
          <a:xfrm>
            <a:off x="7557951" y="3871323"/>
            <a:ext cx="190381" cy="3702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00"/>
              </a:lnSpc>
              <a:buNone/>
            </a:pPr>
            <a:endParaRPr lang="en-US" sz="24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1CF3942-B4A0-1834-D7D1-BB9C2EBEACFE}"/>
              </a:ext>
            </a:extLst>
          </p:cNvPr>
          <p:cNvSpPr/>
          <p:nvPr/>
        </p:nvSpPr>
        <p:spPr>
          <a:xfrm>
            <a:off x="6412914" y="3799224"/>
            <a:ext cx="3086100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Performance Metrics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478F786C-C856-53DC-0269-8830FC61B6C9}"/>
              </a:ext>
            </a:extLst>
          </p:cNvPr>
          <p:cNvSpPr/>
          <p:nvPr/>
        </p:nvSpPr>
        <p:spPr>
          <a:xfrm>
            <a:off x="1345044" y="2277557"/>
            <a:ext cx="3530443" cy="7900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80% training, 20% testing split for model evaluation.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3C5328A5-474C-1648-E2B3-52DA6C25EC52}"/>
              </a:ext>
            </a:extLst>
          </p:cNvPr>
          <p:cNvSpPr/>
          <p:nvPr/>
        </p:nvSpPr>
        <p:spPr>
          <a:xfrm>
            <a:off x="6664627" y="4341821"/>
            <a:ext cx="4612973" cy="124233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Evaluated models using classification metrics like Accuracy Score, Precision, Recall, F1Score, Confusion matrix, Roc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Auc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FE2C3953-91E9-B6AE-926C-4D281B4C1DE2}"/>
              </a:ext>
            </a:extLst>
          </p:cNvPr>
          <p:cNvSpPr/>
          <p:nvPr/>
        </p:nvSpPr>
        <p:spPr>
          <a:xfrm>
            <a:off x="6039546" y="1795421"/>
            <a:ext cx="3227189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Cross Validation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23E4138F-DBDB-55A1-7E5C-BE9ED401A933}"/>
              </a:ext>
            </a:extLst>
          </p:cNvPr>
          <p:cNvSpPr/>
          <p:nvPr/>
        </p:nvSpPr>
        <p:spPr>
          <a:xfrm>
            <a:off x="6664628" y="2250776"/>
            <a:ext cx="3992481" cy="11782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K-Fold &amp; Stratified K-Fold to improved model performance &amp; generalization.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3">
            <a:extLst>
              <a:ext uri="{FF2B5EF4-FFF2-40B4-BE49-F238E27FC236}">
                <a16:creationId xmlns:a16="http://schemas.microsoft.com/office/drawing/2014/main" id="{48F50F10-6285-5319-DCBF-58672D605501}"/>
              </a:ext>
            </a:extLst>
          </p:cNvPr>
          <p:cNvSpPr/>
          <p:nvPr/>
        </p:nvSpPr>
        <p:spPr>
          <a:xfrm>
            <a:off x="618199" y="3744119"/>
            <a:ext cx="555427" cy="539598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US" dirty="0"/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D413A20-7617-4CB1-348E-2B01958580EC}"/>
              </a:ext>
            </a:extLst>
          </p:cNvPr>
          <p:cNvCxnSpPr>
            <a:stCxn id="7" idx="2"/>
            <a:endCxn id="26" idx="0"/>
          </p:cNvCxnSpPr>
          <p:nvPr/>
        </p:nvCxnSpPr>
        <p:spPr>
          <a:xfrm>
            <a:off x="895913" y="2237181"/>
            <a:ext cx="0" cy="15069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Shape 3">
            <a:extLst>
              <a:ext uri="{FF2B5EF4-FFF2-40B4-BE49-F238E27FC236}">
                <a16:creationId xmlns:a16="http://schemas.microsoft.com/office/drawing/2014/main" id="{99A315E2-DCF5-929A-BD5C-A84973D34EBD}"/>
              </a:ext>
            </a:extLst>
          </p:cNvPr>
          <p:cNvSpPr/>
          <p:nvPr/>
        </p:nvSpPr>
        <p:spPr>
          <a:xfrm>
            <a:off x="5857488" y="1697583"/>
            <a:ext cx="555427" cy="539598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US" dirty="0"/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9F55C88E-CC97-5EF3-4564-0575FEE2F4A1}"/>
              </a:ext>
            </a:extLst>
          </p:cNvPr>
          <p:cNvSpPr/>
          <p:nvPr/>
        </p:nvSpPr>
        <p:spPr>
          <a:xfrm>
            <a:off x="5857487" y="3744119"/>
            <a:ext cx="555427" cy="539598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US" dirty="0"/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B5885D8-FBBD-80E5-1D23-F975A9BAC0A0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 flipH="1">
            <a:off x="6135201" y="2237181"/>
            <a:ext cx="1" cy="15069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067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7228-2889-3F88-3833-17E755F1B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6772" y="365124"/>
            <a:ext cx="8806542" cy="755753"/>
          </a:xfrm>
        </p:spPr>
        <p:txBody>
          <a:bodyPr>
            <a:no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Comparison</a:t>
            </a:r>
          </a:p>
        </p:txBody>
      </p:sp>
      <p:pic>
        <p:nvPicPr>
          <p:cNvPr id="5" name="Picture 4" descr="A graph of blue and pink bars&#10;&#10;Description automatically generated">
            <a:extLst>
              <a:ext uri="{FF2B5EF4-FFF2-40B4-BE49-F238E27FC236}">
                <a16:creationId xmlns:a16="http://schemas.microsoft.com/office/drawing/2014/main" id="{AA75AE3E-ED69-17A2-1EF4-6698152C1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83" y="1164419"/>
            <a:ext cx="11751833" cy="3194504"/>
          </a:xfrm>
          <a:prstGeom prst="rect">
            <a:avLst/>
          </a:prstGeom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F426FA70-94DF-663B-48BE-D965CC7DF3AE}"/>
              </a:ext>
            </a:extLst>
          </p:cNvPr>
          <p:cNvSpPr/>
          <p:nvPr/>
        </p:nvSpPr>
        <p:spPr>
          <a:xfrm>
            <a:off x="8155433" y="4402464"/>
            <a:ext cx="3805935" cy="2090409"/>
          </a:xfrm>
          <a:prstGeom prst="roundRect">
            <a:avLst>
              <a:gd name="adj" fmla="val 4623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&amp; KNN performs similarly around 67.0% accuracy score offering a good baseline model for classified.</a:t>
            </a: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A65A6DA1-32CD-64D4-D32C-5FD2D8DFDFA4}"/>
              </a:ext>
            </a:extLst>
          </p:cNvPr>
          <p:cNvSpPr/>
          <p:nvPr/>
        </p:nvSpPr>
        <p:spPr>
          <a:xfrm>
            <a:off x="4193033" y="4402465"/>
            <a:ext cx="3805935" cy="2090410"/>
          </a:xfrm>
          <a:prstGeom prst="roundRect">
            <a:avLst>
              <a:gd name="adj" fmla="val 4623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Runner Up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Classifier came 2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accuracy score of 73.8% which slightly lower than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4D0BB75D-9867-5D0B-61DF-03C0926ECAF7}"/>
              </a:ext>
            </a:extLst>
          </p:cNvPr>
          <p:cNvSpPr/>
          <p:nvPr/>
        </p:nvSpPr>
        <p:spPr>
          <a:xfrm>
            <a:off x="220083" y="4402464"/>
            <a:ext cx="3805935" cy="2090411"/>
          </a:xfrm>
          <a:prstGeom prst="roundRect">
            <a:avLst>
              <a:gd name="adj" fmla="val 4623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Performer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 achieved highest accuracy score of 74.5% out performing other models indicating superior ability to generalize.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571BCDA-8D8D-885C-046D-A5086B01A8C3}"/>
              </a:ext>
            </a:extLst>
          </p:cNvPr>
          <p:cNvCxnSpPr>
            <a:stCxn id="13" idx="3"/>
            <a:endCxn id="12" idx="1"/>
          </p:cNvCxnSpPr>
          <p:nvPr/>
        </p:nvCxnSpPr>
        <p:spPr>
          <a:xfrm>
            <a:off x="4026018" y="5447670"/>
            <a:ext cx="16701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C5BBCA-B66B-BB81-3AEE-7ECF1C2CD72A}"/>
              </a:ext>
            </a:extLst>
          </p:cNvPr>
          <p:cNvCxnSpPr>
            <a:stCxn id="12" idx="3"/>
            <a:endCxn id="9" idx="1"/>
          </p:cNvCxnSpPr>
          <p:nvPr/>
        </p:nvCxnSpPr>
        <p:spPr>
          <a:xfrm flipV="1">
            <a:off x="7998968" y="5447669"/>
            <a:ext cx="156465" cy="1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1727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F1E7F-FD06-ADB4-FA8F-D1D172029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5926" y="287614"/>
            <a:ext cx="5020245" cy="838476"/>
          </a:xfrm>
        </p:spPr>
        <p:txBody>
          <a:bodyPr>
            <a:no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D691D7-9C3D-0D80-505D-F2D62D74DE8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464" y="1405552"/>
            <a:ext cx="5476663" cy="5371220"/>
          </a:xfr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2D770B34-536A-6DBD-0CD7-69CCA871DF2D}"/>
              </a:ext>
            </a:extLst>
          </p:cNvPr>
          <p:cNvSpPr/>
          <p:nvPr/>
        </p:nvSpPr>
        <p:spPr>
          <a:xfrm>
            <a:off x="565452" y="1405552"/>
            <a:ext cx="555427" cy="539598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US" dirty="0"/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3E1BD8E4-92D3-AFEC-A1A7-D0DA11B38813}"/>
              </a:ext>
            </a:extLst>
          </p:cNvPr>
          <p:cNvSpPr/>
          <p:nvPr/>
        </p:nvSpPr>
        <p:spPr>
          <a:xfrm>
            <a:off x="565452" y="2921342"/>
            <a:ext cx="555427" cy="539598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US" dirty="0"/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52480E68-5A71-34E3-9797-1B9E2E1814CE}"/>
              </a:ext>
            </a:extLst>
          </p:cNvPr>
          <p:cNvSpPr/>
          <p:nvPr/>
        </p:nvSpPr>
        <p:spPr>
          <a:xfrm>
            <a:off x="559531" y="4191852"/>
            <a:ext cx="555427" cy="539598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US" dirty="0"/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E128C2A-5D77-7118-E6D4-A29960799445}"/>
              </a:ext>
            </a:extLst>
          </p:cNvPr>
          <p:cNvSpPr/>
          <p:nvPr/>
        </p:nvSpPr>
        <p:spPr>
          <a:xfrm>
            <a:off x="558575" y="5497295"/>
            <a:ext cx="555427" cy="539598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US" dirty="0"/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7F87F2-957D-ABCF-DE3D-A0213DA2CC58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843166" y="1945150"/>
            <a:ext cx="0" cy="9761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A6B7F7-1487-2098-5FD9-A719814E293E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837245" y="3460940"/>
            <a:ext cx="5921" cy="7309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D720FAE-0812-25EA-5C68-3DF479C3BD75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836289" y="4731450"/>
            <a:ext cx="956" cy="7658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66B19BB-4C5E-5364-F31A-9F0C0D48877C}"/>
              </a:ext>
            </a:extLst>
          </p:cNvPr>
          <p:cNvSpPr txBox="1"/>
          <p:nvPr/>
        </p:nvSpPr>
        <p:spPr>
          <a:xfrm>
            <a:off x="1249192" y="1405552"/>
            <a:ext cx="1178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62EB7D-A97F-248C-66FA-A7144E19D16E}"/>
              </a:ext>
            </a:extLst>
          </p:cNvPr>
          <p:cNvSpPr txBox="1"/>
          <p:nvPr/>
        </p:nvSpPr>
        <p:spPr>
          <a:xfrm>
            <a:off x="1249192" y="1867217"/>
            <a:ext cx="4522344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Carry out &amp; take away / restaurant &lt; 20 are most Important features which holds 33.0% importance.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AEDD2E-A152-0155-AC89-338D0BD68E39}"/>
              </a:ext>
            </a:extLst>
          </p:cNvPr>
          <p:cNvSpPr txBox="1"/>
          <p:nvPr/>
        </p:nvSpPr>
        <p:spPr>
          <a:xfrm>
            <a:off x="1249192" y="2889402"/>
            <a:ext cx="2533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Expiration Hours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48AA9C-C397-5687-C7ED-5E9770411911}"/>
              </a:ext>
            </a:extLst>
          </p:cNvPr>
          <p:cNvSpPr txBox="1"/>
          <p:nvPr/>
        </p:nvSpPr>
        <p:spPr>
          <a:xfrm>
            <a:off x="1249192" y="3429000"/>
            <a:ext cx="328603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most important feature with 13.0% importance.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8E3B88-B479-8B33-2A49-B983186341ED}"/>
              </a:ext>
            </a:extLst>
          </p:cNvPr>
          <p:cNvSpPr txBox="1"/>
          <p:nvPr/>
        </p:nvSpPr>
        <p:spPr>
          <a:xfrm>
            <a:off x="1247860" y="5536903"/>
            <a:ext cx="2569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Features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494BAD-7B6A-01F7-973C-25D947C4A75D}"/>
              </a:ext>
            </a:extLst>
          </p:cNvPr>
          <p:cNvSpPr txBox="1"/>
          <p:nvPr/>
        </p:nvSpPr>
        <p:spPr>
          <a:xfrm>
            <a:off x="1249192" y="4181800"/>
            <a:ext cx="2209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9344E1-8044-CFF7-7D93-419B261489AE}"/>
              </a:ext>
            </a:extLst>
          </p:cNvPr>
          <p:cNvSpPr txBox="1"/>
          <p:nvPr/>
        </p:nvSpPr>
        <p:spPr>
          <a:xfrm>
            <a:off x="1249192" y="4713784"/>
            <a:ext cx="404566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most important feature with 12.0% importance.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1A0350-1BA9-2A89-19F4-23F0F60C3A6C}"/>
              </a:ext>
            </a:extLst>
          </p:cNvPr>
          <p:cNvSpPr txBox="1"/>
          <p:nvPr/>
        </p:nvSpPr>
        <p:spPr>
          <a:xfrm>
            <a:off x="1247860" y="6099664"/>
            <a:ext cx="452234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all the features contributed with 42.0%.</a:t>
            </a:r>
          </a:p>
        </p:txBody>
      </p:sp>
    </p:spTree>
    <p:extLst>
      <p:ext uri="{BB962C8B-B14F-4D97-AF65-F5344CB8AC3E}">
        <p14:creationId xmlns:p14="http://schemas.microsoft.com/office/powerpoint/2010/main" val="2018517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7975453-B181-EA09-5C0A-4561DF25C6C0}"/>
              </a:ext>
            </a:extLst>
          </p:cNvPr>
          <p:cNvSpPr/>
          <p:nvPr/>
        </p:nvSpPr>
        <p:spPr>
          <a:xfrm>
            <a:off x="1295400" y="208836"/>
            <a:ext cx="3853544" cy="7715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6050"/>
              </a:lnSpc>
              <a:buNone/>
            </a:pPr>
            <a:r>
              <a:rPr lang="en-US" sz="48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Key Findings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D59D9B2-AE0A-DBD4-4C57-531C0B3FBBE6}"/>
              </a:ext>
            </a:extLst>
          </p:cNvPr>
          <p:cNvSpPr/>
          <p:nvPr/>
        </p:nvSpPr>
        <p:spPr>
          <a:xfrm>
            <a:off x="1313778" y="1450390"/>
            <a:ext cx="1701565" cy="4481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Best Model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3AFD80E-3B6A-4A41-99B7-8C5719E494AA}"/>
              </a:ext>
            </a:extLst>
          </p:cNvPr>
          <p:cNvSpPr/>
          <p:nvPr/>
        </p:nvSpPr>
        <p:spPr>
          <a:xfrm>
            <a:off x="1313778" y="1892376"/>
            <a:ext cx="5323114" cy="12427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00"/>
              </a:lnSpc>
              <a:buNone/>
            </a:pP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outperformed all other models, achieving the highest accuracy and robust predictive performance, making it the best choice for this classification task.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7F67770-2030-B1F6-8295-20A9ACD8BFB9}"/>
              </a:ext>
            </a:extLst>
          </p:cNvPr>
          <p:cNvSpPr/>
          <p:nvPr/>
        </p:nvSpPr>
        <p:spPr>
          <a:xfrm>
            <a:off x="1295400" y="3236118"/>
            <a:ext cx="3086100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Important Factor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317484B-7591-3FA1-6CB4-2B7921BDAD5E}"/>
              </a:ext>
            </a:extLst>
          </p:cNvPr>
          <p:cNvSpPr/>
          <p:nvPr/>
        </p:nvSpPr>
        <p:spPr>
          <a:xfrm>
            <a:off x="1295400" y="5138495"/>
            <a:ext cx="2536371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Kanit Light" pitchFamily="34" charset="-122"/>
                <a:cs typeface="Times New Roman" panose="02020603050405020304" pitchFamily="18" charset="0"/>
              </a:rPr>
              <a:t>Model Accuracy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6AFF3DD8-D219-1C15-96B9-FE3BA16635CC}"/>
              </a:ext>
            </a:extLst>
          </p:cNvPr>
          <p:cNvSpPr/>
          <p:nvPr/>
        </p:nvSpPr>
        <p:spPr>
          <a:xfrm>
            <a:off x="1313778" y="5668997"/>
            <a:ext cx="5322347" cy="7900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ea typeface="Martel Sans" panose="00000500000000000000" pitchFamily="34" charset="-122"/>
                <a:cs typeface="Times New Roman" panose="02020603050405020304" pitchFamily="18" charset="0"/>
              </a:rPr>
              <a:t>Achieved 74.5% accuracy in predicting Coupon Acceptance.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622B2CA0-92F8-8093-3072-5A73FC388890}"/>
              </a:ext>
            </a:extLst>
          </p:cNvPr>
          <p:cNvSpPr/>
          <p:nvPr/>
        </p:nvSpPr>
        <p:spPr>
          <a:xfrm>
            <a:off x="1314544" y="3722912"/>
            <a:ext cx="5322347" cy="11154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like Coupon, Expiration, Gender, Occupation, Passengers, Directions, Destination, Weather, Marital Status are significantly influence coupon acceptance.</a:t>
            </a:r>
          </a:p>
        </p:txBody>
      </p:sp>
      <p:pic>
        <p:nvPicPr>
          <p:cNvPr id="17" name="Picture 16" descr="A brain in a blue circle with orange and blue squares&#10;&#10;Description automatically generated">
            <a:extLst>
              <a:ext uri="{FF2B5EF4-FFF2-40B4-BE49-F238E27FC236}">
                <a16:creationId xmlns:a16="http://schemas.microsoft.com/office/drawing/2014/main" id="{B6ADEA05-C8A3-0784-79D1-5E17DEEB7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886" y="980361"/>
            <a:ext cx="5323114" cy="4878705"/>
          </a:xfrm>
          <a:prstGeom prst="rect">
            <a:avLst/>
          </a:prstGeom>
        </p:spPr>
      </p:pic>
      <p:sp>
        <p:nvSpPr>
          <p:cNvPr id="18" name="Shape 3">
            <a:extLst>
              <a:ext uri="{FF2B5EF4-FFF2-40B4-BE49-F238E27FC236}">
                <a16:creationId xmlns:a16="http://schemas.microsoft.com/office/drawing/2014/main" id="{9FFEF879-594B-62B2-70A9-8ECA74879934}"/>
              </a:ext>
            </a:extLst>
          </p:cNvPr>
          <p:cNvSpPr/>
          <p:nvPr/>
        </p:nvSpPr>
        <p:spPr>
          <a:xfrm>
            <a:off x="565452" y="1405552"/>
            <a:ext cx="555427" cy="539598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US" dirty="0"/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9D3E3D82-8305-70CF-301A-AB5FF8A2CEBB}"/>
              </a:ext>
            </a:extLst>
          </p:cNvPr>
          <p:cNvSpPr/>
          <p:nvPr/>
        </p:nvSpPr>
        <p:spPr>
          <a:xfrm>
            <a:off x="565452" y="3159201"/>
            <a:ext cx="555427" cy="539598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US" dirty="0"/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668843BD-40EC-9DF5-C637-E3817FED188C}"/>
              </a:ext>
            </a:extLst>
          </p:cNvPr>
          <p:cNvSpPr/>
          <p:nvPr/>
        </p:nvSpPr>
        <p:spPr>
          <a:xfrm>
            <a:off x="565452" y="5055390"/>
            <a:ext cx="555427" cy="539598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15240">
            <a:solidFill>
              <a:srgbClr val="C5D2CF"/>
            </a:solidFill>
            <a:prstDash val="solid"/>
          </a:ln>
        </p:spPr>
        <p:txBody>
          <a:bodyPr/>
          <a:lstStyle/>
          <a:p>
            <a:r>
              <a:rPr lang="en-US" dirty="0"/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49AECB1-C66D-FDA5-B64A-39D97DFE321D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843166" y="1945150"/>
            <a:ext cx="0" cy="12140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1C9C70-165C-296E-DDB9-79794BAEAA12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843166" y="3698799"/>
            <a:ext cx="0" cy="13565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078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95B05-9FB0-023F-1314-FFBACCE04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342" y="2518391"/>
            <a:ext cx="6715432" cy="1325563"/>
          </a:xfrm>
        </p:spPr>
        <p:txBody>
          <a:bodyPr>
            <a:noAutofit/>
          </a:bodyPr>
          <a:lstStyle/>
          <a:p>
            <a:r>
              <a:rPr lang="en-IN" sz="8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0274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1250</TotalTime>
  <Words>699</Words>
  <Application>Microsoft Office PowerPoint</Application>
  <PresentationFormat>Widescreen</PresentationFormat>
  <Paragraphs>133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Martel Sans</vt:lpstr>
      <vt:lpstr>Times New Roman</vt:lpstr>
      <vt:lpstr>Office Theme</vt:lpstr>
      <vt:lpstr>PowerPoint Presentation</vt:lpstr>
      <vt:lpstr>PowerPoint Presentation</vt:lpstr>
      <vt:lpstr>         Data Overview</vt:lpstr>
      <vt:lpstr>Data Preprocessing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Performance Comparison</vt:lpstr>
      <vt:lpstr>Feature Importance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NOOR HAKIM</dc:creator>
  <cp:lastModifiedBy>NOOR HAKIM</cp:lastModifiedBy>
  <cp:revision>80</cp:revision>
  <dcterms:created xsi:type="dcterms:W3CDTF">2025-02-06T10:45:19Z</dcterms:created>
  <dcterms:modified xsi:type="dcterms:W3CDTF">2025-02-08T04:02:05Z</dcterms:modified>
</cp:coreProperties>
</file>